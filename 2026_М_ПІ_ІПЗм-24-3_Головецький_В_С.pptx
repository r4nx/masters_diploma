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76" r:id="rId4"/>
    <p:sldId id="258" r:id="rId5"/>
    <p:sldId id="260" r:id="rId6"/>
    <p:sldId id="261" r:id="rId7"/>
    <p:sldId id="262" r:id="rId8"/>
    <p:sldId id="263" r:id="rId9"/>
    <p:sldId id="264" r:id="rId10"/>
    <p:sldId id="278" r:id="rId11"/>
    <p:sldId id="279" r:id="rId12"/>
    <p:sldId id="280" r:id="rId13"/>
    <p:sldId id="281" r:id="rId14"/>
    <p:sldId id="269" r:id="rId15"/>
  </p:sldIdLst>
  <p:sldSz cx="9144000" cy="5143500" type="screen16x9"/>
  <p:notesSz cx="6858000" cy="9144000"/>
  <p:embeddedFontLst>
    <p:embeddedFont>
      <p:font typeface="Economica" panose="020B0604020202020204" charset="0"/>
      <p:regular r:id="rId17"/>
      <p:bold r:id="rId18"/>
      <p:italic r:id="rId19"/>
      <p:boldItalic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B938F5F4-5C0F-4769-B1F3-4DD423A1C261}">
          <p14:sldIdLst>
            <p14:sldId id="256"/>
            <p14:sldId id="257"/>
            <p14:sldId id="276"/>
            <p14:sldId id="258"/>
          </p14:sldIdLst>
        </p14:section>
        <p14:section name="Untitled Section" id="{8BBC8DDA-C544-4FD8-A63E-B366AA97D2CA}">
          <p14:sldIdLst>
            <p14:sldId id="260"/>
            <p14:sldId id="261"/>
            <p14:sldId id="262"/>
            <p14:sldId id="263"/>
            <p14:sldId id="264"/>
            <p14:sldId id="278"/>
            <p14:sldId id="279"/>
            <p14:sldId id="280"/>
            <p14:sldId id="281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62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A2FAF6-65E2-453E-9331-515706673DF2}" type="datetimeFigureOut">
              <a:rPr lang="en-US" smtClean="0"/>
              <a:t>2026-05-21</a:t>
            </a:fld>
            <a:endParaRPr lang="en-US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1589B-0161-40B7-818B-651F43686C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192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762383" y="782058"/>
            <a:ext cx="3821297" cy="1891773"/>
          </a:xfrm>
        </p:spPr>
        <p:txBody>
          <a:bodyPr>
            <a:noAutofit/>
          </a:bodyPr>
          <a:lstStyle/>
          <a:p>
            <a:pPr algn="l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Дизасемблер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байткоду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Lua: </a:t>
            </a: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реалізація та дослідження методів </a:t>
            </a:r>
            <a:r>
              <a:rPr lang="uk-UA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обфускації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19375" y="3116580"/>
            <a:ext cx="3743587" cy="1242920"/>
          </a:xfrm>
        </p:spPr>
        <p:txBody>
          <a:bodyPr>
            <a:noAutofit/>
          </a:bodyPr>
          <a:lstStyle/>
          <a:p>
            <a:pPr marL="0" lvl="0" indent="0" algn="r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Виконав:</a:t>
            </a:r>
            <a:b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ст. гр.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ІПЗм-24-3 Головецький В. С.</a:t>
            </a:r>
          </a:p>
          <a:p>
            <a:pPr marL="0" lvl="0" indent="0" algn="r"/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Керівник:</a:t>
            </a:r>
          </a:p>
          <a:p>
            <a:pPr marL="0" lvl="0" indent="0" algn="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д-р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фіз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.-мат. наук, проф. каф. ПІ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Галуза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О. А.</a:t>
            </a:r>
          </a:p>
        </p:txBody>
      </p:sp>
      <p:pic>
        <p:nvPicPr>
          <p:cNvPr id="4" name="Google Shape;6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6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1918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3200" noProof="0" dirty="0"/>
              <a:t>Основні поняття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1" noProof="0" dirty="0" err="1">
                <a:latin typeface="+mn-lt"/>
              </a:rPr>
              <a:t>Обфускація</a:t>
            </a:r>
            <a:r>
              <a:rPr lang="uk-UA" b="1" noProof="0" dirty="0">
                <a:latin typeface="+mn-lt"/>
              </a:rPr>
              <a:t> - </a:t>
            </a:r>
            <a:r>
              <a:rPr lang="uk-UA" noProof="0" dirty="0">
                <a:latin typeface="+mn-lt"/>
              </a:rPr>
              <a:t>навмисне ускладнення коду або </a:t>
            </a:r>
            <a:r>
              <a:rPr lang="uk-UA" noProof="0" dirty="0" err="1">
                <a:latin typeface="+mn-lt"/>
              </a:rPr>
              <a:t>байткоду</a:t>
            </a:r>
            <a:r>
              <a:rPr lang="uk-UA" noProof="0" dirty="0">
                <a:latin typeface="+mn-lt"/>
              </a:rPr>
              <a:t> з метою ускладнення його аналізу та розуміння.</a:t>
            </a:r>
          </a:p>
          <a:p>
            <a:r>
              <a:rPr lang="uk-UA" b="1" dirty="0" err="1">
                <a:latin typeface="+mn-lt"/>
              </a:rPr>
              <a:t>Деобфускація</a:t>
            </a:r>
            <a:r>
              <a:rPr lang="uk-UA" dirty="0">
                <a:latin typeface="+mn-lt"/>
              </a:rPr>
              <a:t> - п</a:t>
            </a:r>
            <a:r>
              <a:rPr lang="ru-RU" dirty="0" err="1">
                <a:latin typeface="+mn-lt"/>
              </a:rPr>
              <a:t>роцес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спрощення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обфускованого</a:t>
            </a:r>
            <a:r>
              <a:rPr lang="ru-RU" dirty="0">
                <a:latin typeface="+mn-lt"/>
              </a:rPr>
              <a:t> коду та </a:t>
            </a:r>
            <a:r>
              <a:rPr lang="ru-RU" dirty="0" err="1">
                <a:latin typeface="+mn-lt"/>
              </a:rPr>
              <a:t>відновлення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більш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зрозумимого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представлення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програми</a:t>
            </a:r>
            <a:r>
              <a:rPr lang="ru-RU" dirty="0">
                <a:latin typeface="+mn-lt"/>
              </a:rPr>
              <a:t>.</a:t>
            </a:r>
          </a:p>
          <a:p>
            <a:r>
              <a:rPr lang="ru-RU" b="1" dirty="0" err="1">
                <a:latin typeface="+mn-lt"/>
              </a:rPr>
              <a:t>Дизасемблер</a:t>
            </a:r>
            <a:r>
              <a:rPr lang="ru-RU" b="1" dirty="0">
                <a:latin typeface="+mn-lt"/>
              </a:rPr>
              <a:t> </a:t>
            </a:r>
            <a:r>
              <a:rPr lang="ru-RU" dirty="0">
                <a:latin typeface="+mn-lt"/>
              </a:rPr>
              <a:t>- </a:t>
            </a:r>
            <a:r>
              <a:rPr lang="ru-RU" dirty="0" err="1">
                <a:latin typeface="+mn-lt"/>
              </a:rPr>
              <a:t>програма</a:t>
            </a:r>
            <a:r>
              <a:rPr lang="ru-RU" dirty="0">
                <a:latin typeface="+mn-lt"/>
              </a:rPr>
              <a:t>, яка </a:t>
            </a:r>
            <a:r>
              <a:rPr lang="ru-RU" dirty="0" err="1">
                <a:latin typeface="+mn-lt"/>
              </a:rPr>
              <a:t>перетворює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байткод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машинний</a:t>
            </a:r>
            <a:r>
              <a:rPr lang="ru-RU" dirty="0">
                <a:latin typeface="+mn-lt"/>
              </a:rPr>
              <a:t> код у </a:t>
            </a:r>
            <a:r>
              <a:rPr lang="ru-RU" dirty="0" err="1">
                <a:latin typeface="+mn-lt"/>
              </a:rPr>
              <a:t>текстове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представлення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інструкцій</a:t>
            </a:r>
            <a:r>
              <a:rPr lang="ru-RU" dirty="0">
                <a:latin typeface="+mn-lt"/>
              </a:rPr>
              <a:t>.</a:t>
            </a:r>
            <a:endParaRPr lang="uk-UA" b="1" noProof="0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090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D32B4-6B88-AD65-085F-F8F7C3175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508F22-B0FF-69A6-3FD1-EB568A70D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Актуальність дослідження</a:t>
            </a:r>
            <a:endParaRPr lang="en-US" sz="32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0DEED2-80E2-A484-C662-F34FF79E8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>
                <a:latin typeface="+mn-lt"/>
              </a:rPr>
              <a:t>Lua</a:t>
            </a:r>
            <a:r>
              <a:rPr lang="ru-RU" dirty="0">
                <a:latin typeface="+mn-lt"/>
              </a:rPr>
              <a:t> часто </a:t>
            </a:r>
            <a:r>
              <a:rPr lang="ru-RU" dirty="0" err="1">
                <a:latin typeface="+mn-lt"/>
              </a:rPr>
              <a:t>використовується</a:t>
            </a:r>
            <a:r>
              <a:rPr lang="ru-RU" dirty="0">
                <a:latin typeface="+mn-lt"/>
              </a:rPr>
              <a:t> у </a:t>
            </a:r>
            <a:r>
              <a:rPr lang="ru-RU" dirty="0" err="1">
                <a:latin typeface="+mn-lt"/>
              </a:rPr>
              <a:t>вбудованих</a:t>
            </a:r>
            <a:r>
              <a:rPr lang="ru-RU" dirty="0">
                <a:latin typeface="+mn-lt"/>
              </a:rPr>
              <a:t> системах, </a:t>
            </a:r>
            <a:r>
              <a:rPr lang="ru-RU" dirty="0" err="1">
                <a:latin typeface="+mn-lt"/>
              </a:rPr>
              <a:t>іграх</a:t>
            </a:r>
            <a:r>
              <a:rPr lang="ru-RU" dirty="0">
                <a:latin typeface="+mn-lt"/>
              </a:rPr>
              <a:t> та </a:t>
            </a:r>
            <a:r>
              <a:rPr lang="ru-RU" dirty="0" err="1">
                <a:latin typeface="+mn-lt"/>
              </a:rPr>
              <a:t>різних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програмних</a:t>
            </a:r>
            <a:r>
              <a:rPr lang="ru-RU" dirty="0">
                <a:latin typeface="+mn-lt"/>
              </a:rPr>
              <a:t> платформах</a:t>
            </a:r>
          </a:p>
          <a:p>
            <a:r>
              <a:rPr lang="ru-RU" dirty="0" err="1">
                <a:latin typeface="+mn-lt"/>
              </a:rPr>
              <a:t>Шкідливе</a:t>
            </a:r>
            <a:r>
              <a:rPr lang="ru-RU" dirty="0">
                <a:latin typeface="+mn-lt"/>
              </a:rPr>
              <a:t> ПЗ </a:t>
            </a:r>
            <a:r>
              <a:rPr lang="ru-RU" dirty="0" err="1">
                <a:latin typeface="+mn-lt"/>
              </a:rPr>
              <a:t>може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використовувати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Lua-скрипти</a:t>
            </a:r>
            <a:r>
              <a:rPr lang="ru-RU" dirty="0">
                <a:latin typeface="+mn-lt"/>
              </a:rPr>
              <a:t> та </a:t>
            </a:r>
            <a:r>
              <a:rPr lang="ru-RU" dirty="0" err="1">
                <a:latin typeface="+mn-lt"/>
              </a:rPr>
              <a:t>обфускацію</a:t>
            </a:r>
            <a:r>
              <a:rPr lang="ru-RU" dirty="0">
                <a:latin typeface="+mn-lt"/>
              </a:rPr>
              <a:t> для </a:t>
            </a:r>
            <a:r>
              <a:rPr lang="ru-RU" dirty="0" err="1">
                <a:latin typeface="+mn-lt"/>
              </a:rPr>
              <a:t>ускладнення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аналізу</a:t>
            </a:r>
            <a:endParaRPr lang="ru-RU" dirty="0">
              <a:latin typeface="+mn-lt"/>
            </a:endParaRPr>
          </a:p>
          <a:p>
            <a:r>
              <a:rPr lang="ru-RU" dirty="0" err="1">
                <a:latin typeface="+mn-lt"/>
              </a:rPr>
              <a:t>Існуючі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інструменти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дизасемблювання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мають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обмеження</a:t>
            </a:r>
            <a:r>
              <a:rPr lang="ru-RU" dirty="0">
                <a:latin typeface="+mn-lt"/>
              </a:rPr>
              <a:t> при </a:t>
            </a:r>
            <a:r>
              <a:rPr lang="ru-RU" dirty="0" err="1">
                <a:latin typeface="+mn-lt"/>
              </a:rPr>
              <a:t>роботі</a:t>
            </a:r>
            <a:r>
              <a:rPr lang="ru-RU" dirty="0">
                <a:latin typeface="+mn-lt"/>
              </a:rPr>
              <a:t> з </a:t>
            </a:r>
            <a:r>
              <a:rPr lang="ru-RU" dirty="0" err="1">
                <a:latin typeface="+mn-lt"/>
              </a:rPr>
              <a:t>обфускованим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байткодом</a:t>
            </a:r>
            <a:endParaRPr lang="ru-RU" dirty="0">
              <a:latin typeface="+mn-lt"/>
            </a:endParaRPr>
          </a:p>
          <a:p>
            <a:r>
              <a:rPr lang="ru-RU" dirty="0" err="1">
                <a:latin typeface="+mn-lt"/>
              </a:rPr>
              <a:t>Аналіз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Lua-байткоду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потребує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спеціалізованих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методів</a:t>
            </a:r>
            <a:r>
              <a:rPr lang="ru-RU" dirty="0">
                <a:latin typeface="+mn-lt"/>
              </a:rPr>
              <a:t> та </a:t>
            </a:r>
            <a:r>
              <a:rPr lang="ru-RU" dirty="0" err="1">
                <a:latin typeface="+mn-lt"/>
              </a:rPr>
              <a:t>інструментів</a:t>
            </a:r>
            <a:endParaRPr lang="en-US" dirty="0">
              <a:latin typeface="+mn-lt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D84FEA-015E-BBCF-73C8-45414C952B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>
            <a:extLst>
              <a:ext uri="{FF2B5EF4-FFF2-40B4-BE49-F238E27FC236}">
                <a16:creationId xmlns:a16="http://schemas.microsoft.com/office/drawing/2014/main" id="{7B9A8657-C8A4-6188-CC1A-0347AC36B9E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6766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Мета та завдання роботи</a:t>
            </a:r>
            <a:endParaRPr lang="en-US" sz="32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11700" y="1225225"/>
            <a:ext cx="8520600" cy="3134275"/>
          </a:xfrm>
        </p:spPr>
        <p:txBody>
          <a:bodyPr>
            <a:noAutofit/>
          </a:bodyPr>
          <a:lstStyle/>
          <a:p>
            <a:pPr marL="114300" indent="0" algn="just">
              <a:buNone/>
            </a:pPr>
            <a:r>
              <a:rPr lang="ru-RU" sz="1400" dirty="0">
                <a:latin typeface="+mn-lt"/>
                <a:ea typeface="Open Sans" panose="020B0604020202020204" charset="0"/>
                <a:cs typeface="Open Sans" panose="020B0604020202020204" charset="0"/>
              </a:rPr>
              <a:t>Мета: </a:t>
            </a:r>
            <a:r>
              <a:rPr lang="ru-RU" sz="1400" dirty="0" err="1">
                <a:latin typeface="+mn-lt"/>
                <a:ea typeface="Open Sans" panose="020B0604020202020204" charset="0"/>
                <a:cs typeface="Open Sans" panose="020B0604020202020204" charset="0"/>
              </a:rPr>
              <a:t>р</a:t>
            </a:r>
            <a:r>
              <a:rPr lang="ru-RU" sz="1400" dirty="0" err="1">
                <a:latin typeface="+mn-lt"/>
              </a:rPr>
              <a:t>озробити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дизасемблер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байткоду</a:t>
            </a:r>
            <a:r>
              <a:rPr lang="ru-RU" sz="1400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Lua </a:t>
            </a:r>
            <a:r>
              <a:rPr lang="ru-RU" sz="1400" dirty="0">
                <a:latin typeface="+mn-lt"/>
              </a:rPr>
              <a:t>та </a:t>
            </a:r>
            <a:r>
              <a:rPr lang="ru-RU" sz="1400" dirty="0" err="1">
                <a:latin typeface="+mn-lt"/>
              </a:rPr>
              <a:t>дослідити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методи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обфускації</a:t>
            </a:r>
            <a:r>
              <a:rPr lang="ru-RU" sz="1400" dirty="0">
                <a:latin typeface="+mn-lt"/>
              </a:rPr>
              <a:t> і </a:t>
            </a:r>
            <a:r>
              <a:rPr lang="ru-RU" sz="1400" dirty="0" err="1">
                <a:latin typeface="+mn-lt"/>
              </a:rPr>
              <a:t>деобфускації</a:t>
            </a:r>
            <a:r>
              <a:rPr lang="ru-RU" sz="1400" dirty="0">
                <a:latin typeface="+mn-lt"/>
              </a:rPr>
              <a:t> у </a:t>
            </a:r>
            <a:r>
              <a:rPr lang="ru-RU" sz="1400" dirty="0" err="1">
                <a:latin typeface="+mn-lt"/>
              </a:rPr>
              <a:t>контексті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аналізу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програмного</a:t>
            </a:r>
            <a:r>
              <a:rPr lang="ru-RU" sz="1400" dirty="0">
                <a:latin typeface="+mn-lt"/>
              </a:rPr>
              <a:t> коду</a:t>
            </a:r>
            <a:r>
              <a:rPr lang="ru-RU" sz="1400" dirty="0">
                <a:latin typeface="+mn-lt"/>
                <a:ea typeface="Open Sans" panose="020B0604020202020204" charset="0"/>
                <a:cs typeface="Open Sans" panose="020B0604020202020204" charset="0"/>
              </a:rPr>
              <a:t>.</a:t>
            </a:r>
          </a:p>
          <a:p>
            <a:pPr marL="114300" indent="0" algn="just">
              <a:buNone/>
            </a:pPr>
            <a:endParaRPr lang="ru-RU" sz="1400" dirty="0">
              <a:latin typeface="+mn-lt"/>
              <a:ea typeface="Open Sans" panose="020B0604020202020204" charset="0"/>
              <a:cs typeface="Open Sans" panose="020B0604020202020204" charset="0"/>
            </a:endParaRPr>
          </a:p>
          <a:p>
            <a:pPr marL="114300" indent="0" algn="just">
              <a:buNone/>
            </a:pPr>
            <a:r>
              <a:rPr lang="ru-RU" sz="1400" dirty="0">
                <a:latin typeface="+mn-lt"/>
                <a:ea typeface="Open Sans" panose="020B0604020202020204" charset="0"/>
                <a:cs typeface="Open Sans" panose="020B0604020202020204" charset="0"/>
              </a:rPr>
              <a:t>Завдання:</a:t>
            </a:r>
          </a:p>
          <a:p>
            <a:pPr algn="just"/>
            <a:r>
              <a:rPr lang="ru-RU" sz="1400" dirty="0" err="1">
                <a:latin typeface="+mn-lt"/>
              </a:rPr>
              <a:t>дослідити</a:t>
            </a:r>
            <a:r>
              <a:rPr lang="ru-RU" sz="1400" dirty="0">
                <a:latin typeface="+mn-lt"/>
              </a:rPr>
              <a:t> структуру та </a:t>
            </a:r>
            <a:r>
              <a:rPr lang="ru-RU" sz="1400" dirty="0" err="1">
                <a:latin typeface="+mn-lt"/>
              </a:rPr>
              <a:t>особливості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байткоду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Lua</a:t>
            </a:r>
            <a:r>
              <a:rPr lang="en-US" sz="1400" dirty="0">
                <a:latin typeface="+mn-lt"/>
                <a:ea typeface="Open Sans" panose="020B0604020202020204" charset="0"/>
                <a:cs typeface="Open Sans" panose="020B0604020202020204" charset="0"/>
              </a:rPr>
              <a:t>;</a:t>
            </a:r>
            <a:endParaRPr lang="ru-RU" sz="1400" dirty="0">
              <a:latin typeface="+mn-lt"/>
              <a:ea typeface="Open Sans" panose="020B0604020202020204" charset="0"/>
              <a:cs typeface="Open Sans" panose="020B0604020202020204" charset="0"/>
            </a:endParaRPr>
          </a:p>
          <a:p>
            <a:pPr algn="just"/>
            <a:r>
              <a:rPr lang="ru-RU" sz="1400" dirty="0" err="1">
                <a:latin typeface="+mn-lt"/>
              </a:rPr>
              <a:t>реалізувати</a:t>
            </a:r>
            <a:r>
              <a:rPr lang="ru-RU" sz="1400" dirty="0">
                <a:latin typeface="+mn-lt"/>
              </a:rPr>
              <a:t> парсер та </a:t>
            </a:r>
            <a:r>
              <a:rPr lang="ru-RU" sz="1400" dirty="0" err="1">
                <a:latin typeface="+mn-lt"/>
              </a:rPr>
              <a:t>дизасемблер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Lua-байткоду</a:t>
            </a:r>
            <a:r>
              <a:rPr lang="en-US" sz="1400" dirty="0">
                <a:latin typeface="+mn-lt"/>
                <a:ea typeface="Open Sans" panose="020B0604020202020204" charset="0"/>
                <a:cs typeface="Open Sans" panose="020B0604020202020204" charset="0"/>
              </a:rPr>
              <a:t>;</a:t>
            </a:r>
            <a:endParaRPr lang="ru-RU" sz="1400" dirty="0">
              <a:latin typeface="+mn-lt"/>
              <a:ea typeface="Open Sans" panose="020B0604020202020204" charset="0"/>
              <a:cs typeface="Open Sans" panose="020B0604020202020204" charset="0"/>
            </a:endParaRPr>
          </a:p>
          <a:p>
            <a:pPr algn="just"/>
            <a:r>
              <a:rPr lang="ru-RU" sz="1400" dirty="0" err="1">
                <a:latin typeface="+mn-lt"/>
              </a:rPr>
              <a:t>реалізувати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базовий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аналіз</a:t>
            </a:r>
            <a:r>
              <a:rPr lang="ru-RU" sz="1400" dirty="0">
                <a:latin typeface="+mn-lt"/>
              </a:rPr>
              <a:t> потоку </a:t>
            </a:r>
            <a:r>
              <a:rPr lang="ru-RU" sz="1400" dirty="0" err="1">
                <a:latin typeface="+mn-lt"/>
              </a:rPr>
              <a:t>виконання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програми</a:t>
            </a:r>
            <a:r>
              <a:rPr lang="en-US" sz="1400" dirty="0">
                <a:latin typeface="+mn-lt"/>
                <a:ea typeface="Open Sans" panose="020B0604020202020204" charset="0"/>
                <a:cs typeface="Open Sans" panose="020B0604020202020204" charset="0"/>
              </a:rPr>
              <a:t>;</a:t>
            </a:r>
            <a:endParaRPr lang="ru-RU" sz="1400" dirty="0">
              <a:latin typeface="+mn-lt"/>
              <a:ea typeface="Open Sans" panose="020B0604020202020204" charset="0"/>
              <a:cs typeface="Open Sans" panose="020B0604020202020204" charset="0"/>
            </a:endParaRPr>
          </a:p>
          <a:p>
            <a:pPr algn="just"/>
            <a:r>
              <a:rPr lang="ru-RU" sz="1400" dirty="0" err="1">
                <a:latin typeface="+mn-lt"/>
              </a:rPr>
              <a:t>розробити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прості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алгоритми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деобфускації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байткоду</a:t>
            </a:r>
            <a:r>
              <a:rPr lang="en-US" sz="1400" dirty="0">
                <a:latin typeface="+mn-lt"/>
                <a:ea typeface="Open Sans" panose="020B0604020202020204" charset="0"/>
                <a:cs typeface="Open Sans" panose="020B0604020202020204" charset="0"/>
              </a:rPr>
              <a:t>;</a:t>
            </a:r>
            <a:endParaRPr lang="ru-RU" sz="1400" dirty="0">
              <a:latin typeface="+mn-lt"/>
              <a:ea typeface="Open Sans" panose="020B0604020202020204" charset="0"/>
              <a:cs typeface="Open Sans" panose="020B0604020202020204" charset="0"/>
            </a:endParaRPr>
          </a:p>
          <a:p>
            <a:pPr algn="just"/>
            <a:r>
              <a:rPr lang="ru-RU" sz="1400" dirty="0">
                <a:latin typeface="+mn-lt"/>
              </a:rPr>
              <a:t>провести </a:t>
            </a:r>
            <a:r>
              <a:rPr lang="ru-RU" sz="1400" dirty="0" err="1">
                <a:latin typeface="+mn-lt"/>
              </a:rPr>
              <a:t>експериментальні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дослідження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роботи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дизасемблера</a:t>
            </a:r>
            <a:r>
              <a:rPr lang="ru-RU" sz="1400" dirty="0">
                <a:latin typeface="+mn-lt"/>
              </a:rPr>
              <a:t> та </a:t>
            </a:r>
            <a:r>
              <a:rPr lang="ru-RU" sz="1400" dirty="0" err="1">
                <a:latin typeface="+mn-lt"/>
              </a:rPr>
              <a:t>алгоритмів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деобфускації</a:t>
            </a:r>
            <a:r>
              <a:rPr lang="en-US" sz="1400" dirty="0">
                <a:latin typeface="+mn-lt"/>
                <a:ea typeface="Open Sans" panose="020B0604020202020204" charset="0"/>
                <a:cs typeface="Open Sans" panose="020B0604020202020204" charset="0"/>
              </a:rPr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642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700" y="31900"/>
            <a:ext cx="8520600" cy="831300"/>
          </a:xfrm>
        </p:spPr>
        <p:txBody>
          <a:bodyPr>
            <a:normAutofit/>
          </a:bodyPr>
          <a:lstStyle/>
          <a:p>
            <a:r>
              <a:rPr lang="ru-RU" sz="3200" dirty="0"/>
              <a:t>Структура </a:t>
            </a:r>
            <a:r>
              <a:rPr lang="ru-RU" sz="3200" dirty="0" err="1"/>
              <a:t>байткоду</a:t>
            </a:r>
            <a:r>
              <a:rPr lang="en-US" sz="3200" dirty="0"/>
              <a:t> Lua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68925" y="863200"/>
            <a:ext cx="3864925" cy="3652044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Lua bytecode</a:t>
            </a:r>
          </a:p>
          <a:p>
            <a:pPr lvl="1"/>
            <a:r>
              <a:rPr lang="en-US" dirty="0">
                <a:latin typeface="+mn-lt"/>
              </a:rPr>
              <a:t>Header</a:t>
            </a:r>
          </a:p>
          <a:p>
            <a:pPr lvl="2"/>
            <a:r>
              <a:rPr lang="en-US" dirty="0">
                <a:latin typeface="+mn-lt"/>
              </a:rPr>
              <a:t>Signature</a:t>
            </a:r>
          </a:p>
          <a:p>
            <a:pPr lvl="2"/>
            <a:r>
              <a:rPr lang="en-US" dirty="0">
                <a:latin typeface="+mn-lt"/>
              </a:rPr>
              <a:t>Version</a:t>
            </a:r>
          </a:p>
          <a:p>
            <a:pPr lvl="2"/>
            <a:r>
              <a:rPr lang="en-US" dirty="0">
                <a:latin typeface="+mn-lt"/>
              </a:rPr>
              <a:t>Integer size checks</a:t>
            </a:r>
          </a:p>
          <a:p>
            <a:pPr lvl="1"/>
            <a:r>
              <a:rPr lang="en-US" dirty="0">
                <a:latin typeface="+mn-lt"/>
              </a:rPr>
              <a:t>Function</a:t>
            </a:r>
          </a:p>
          <a:p>
            <a:pPr lvl="2"/>
            <a:r>
              <a:rPr lang="en-US" dirty="0">
                <a:latin typeface="+mn-lt"/>
              </a:rPr>
              <a:t>Instructions</a:t>
            </a:r>
          </a:p>
          <a:p>
            <a:pPr lvl="2"/>
            <a:r>
              <a:rPr lang="en-US" dirty="0">
                <a:latin typeface="+mn-lt"/>
              </a:rPr>
              <a:t>Constants</a:t>
            </a:r>
          </a:p>
          <a:p>
            <a:pPr lvl="2"/>
            <a:r>
              <a:rPr lang="en-US" dirty="0">
                <a:latin typeface="+mn-lt"/>
              </a:rPr>
              <a:t>Upvalues</a:t>
            </a:r>
          </a:p>
          <a:p>
            <a:pPr lvl="2"/>
            <a:r>
              <a:rPr lang="en-US" dirty="0">
                <a:latin typeface="+mn-lt"/>
              </a:rPr>
              <a:t>Nested functions</a:t>
            </a:r>
          </a:p>
          <a:p>
            <a:pPr lvl="2"/>
            <a:r>
              <a:rPr lang="en-US" dirty="0">
                <a:latin typeface="+mn-lt"/>
              </a:rPr>
              <a:t>Strings</a:t>
            </a:r>
          </a:p>
          <a:p>
            <a:pPr lvl="2"/>
            <a:r>
              <a:rPr lang="en-US" dirty="0">
                <a:latin typeface="+mn-lt"/>
              </a:rPr>
              <a:t>Debug info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Текст 2">
            <a:extLst>
              <a:ext uri="{FF2B5EF4-FFF2-40B4-BE49-F238E27FC236}">
                <a16:creationId xmlns:a16="http://schemas.microsoft.com/office/drawing/2014/main" id="{D22EA3AE-08F9-A3C2-18CC-4024290141B6}"/>
              </a:ext>
            </a:extLst>
          </p:cNvPr>
          <p:cNvSpPr txBox="1">
            <a:spLocks/>
          </p:cNvSpPr>
          <p:nvPr/>
        </p:nvSpPr>
        <p:spPr>
          <a:xfrm>
            <a:off x="4607533" y="1945571"/>
            <a:ext cx="3864925" cy="249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uk-UA" sz="1400" dirty="0">
                <a:latin typeface="+mn-lt"/>
              </a:rPr>
              <a:t>Розмір числового поля вказується одним байтом безпосередньо перед значенням поля</a:t>
            </a:r>
            <a:endParaRPr lang="en-US" sz="1400" dirty="0">
              <a:latin typeface="+mn-lt"/>
            </a:endParaRPr>
          </a:p>
          <a:p>
            <a:r>
              <a:rPr lang="uk-UA" sz="1400" dirty="0">
                <a:latin typeface="+mn-lt"/>
              </a:rPr>
              <a:t>Деякі числові поля мають змінний розмір (</a:t>
            </a:r>
            <a:r>
              <a:rPr lang="en-US" sz="1400" dirty="0">
                <a:latin typeface="+mn-lt"/>
              </a:rPr>
              <a:t>variable-length code). </a:t>
            </a:r>
            <a:r>
              <a:rPr lang="uk-UA" sz="1400" dirty="0">
                <a:latin typeface="+mn-lt"/>
              </a:rPr>
              <a:t>Для їх кодування використовується формат </a:t>
            </a:r>
            <a:r>
              <a:rPr lang="en-US" sz="1400" dirty="0">
                <a:latin typeface="+mn-lt"/>
              </a:rPr>
              <a:t>LEB128.</a:t>
            </a:r>
            <a:endParaRPr lang="uk-UA" sz="1400" dirty="0"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E32E8E-7E97-90E1-B7F9-2C20CE52A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152" y="31900"/>
            <a:ext cx="1371791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20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965" y="6899"/>
            <a:ext cx="9178116" cy="831300"/>
          </a:xfrm>
        </p:spPr>
        <p:txBody>
          <a:bodyPr>
            <a:noAutofit/>
          </a:bodyPr>
          <a:lstStyle/>
          <a:p>
            <a:r>
              <a:rPr lang="ru-RU" sz="3600" dirty="0"/>
              <a:t>Формат </a:t>
            </a:r>
            <a:r>
              <a:rPr lang="ru-RU" sz="3600" dirty="0" err="1"/>
              <a:t>інструкцій</a:t>
            </a:r>
            <a:endParaRPr lang="en-US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BC9EBDB-544E-2FE2-69E1-6863A8AD2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9955" y="3994600"/>
            <a:ext cx="5374400" cy="58175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uk-UA" sz="1400" dirty="0">
                <a:latin typeface="+mn-lt"/>
              </a:rPr>
              <a:t>Рисунок 1 – Діаграма формату інструкцій </a:t>
            </a:r>
            <a:r>
              <a:rPr lang="en-US" sz="1400" dirty="0">
                <a:latin typeface="+mn-lt"/>
              </a:rPr>
              <a:t>Lua </a:t>
            </a:r>
            <a:r>
              <a:rPr lang="uk-UA" sz="1400" dirty="0">
                <a:latin typeface="+mn-lt"/>
              </a:rPr>
              <a:t>у різних режимах (з коду офіційного інтерпретатора </a:t>
            </a:r>
            <a:r>
              <a:rPr lang="en-US" sz="1400" dirty="0">
                <a:latin typeface="+mn-lt"/>
              </a:rPr>
              <a:t>Lua)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32A655-0D3E-C76A-66A8-A53059D66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25" y="768123"/>
            <a:ext cx="6125430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42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700" y="138545"/>
            <a:ext cx="8520600" cy="570874"/>
          </a:xfrm>
        </p:spPr>
        <p:txBody>
          <a:bodyPr>
            <a:noAutofit/>
          </a:bodyPr>
          <a:lstStyle/>
          <a:p>
            <a:r>
              <a:rPr lang="uk-UA" sz="3600" dirty="0"/>
              <a:t>Методи </a:t>
            </a:r>
            <a:r>
              <a:rPr lang="uk-UA" sz="3600" dirty="0" err="1"/>
              <a:t>обфускації</a:t>
            </a:r>
            <a:endParaRPr lang="en-US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50472A-CC93-7D12-378F-2F948DE38712}"/>
              </a:ext>
            </a:extLst>
          </p:cNvPr>
          <p:cNvSpPr txBox="1"/>
          <p:nvPr/>
        </p:nvSpPr>
        <p:spPr>
          <a:xfrm>
            <a:off x="311700" y="857250"/>
            <a:ext cx="2971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Dead code</a:t>
            </a:r>
            <a:r>
              <a:rPr lang="uk-UA" b="1" dirty="0"/>
              <a:t> (</a:t>
            </a:r>
            <a:r>
              <a:rPr lang="uk-UA" b="1" dirty="0" err="1"/>
              <a:t>т.з</a:t>
            </a:r>
            <a:r>
              <a:rPr lang="uk-UA" b="1" dirty="0"/>
              <a:t>. «мертвий» код)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DF4416-629D-FB4C-40B8-360786C09781}"/>
              </a:ext>
            </a:extLst>
          </p:cNvPr>
          <p:cNvSpPr txBox="1"/>
          <p:nvPr/>
        </p:nvSpPr>
        <p:spPr>
          <a:xfrm>
            <a:off x="311700" y="1165027"/>
            <a:ext cx="35337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Метод </a:t>
            </a:r>
            <a:r>
              <a:rPr lang="uk-UA" dirty="0" err="1"/>
              <a:t>обфускації</a:t>
            </a:r>
            <a:r>
              <a:rPr lang="uk-UA" dirty="0"/>
              <a:t>, який передбачає додавання зайвих інструкцій, які будуть «</a:t>
            </a:r>
            <a:r>
              <a:rPr lang="uk-UA" dirty="0" err="1"/>
              <a:t>перестрибнуті</a:t>
            </a:r>
            <a:r>
              <a:rPr lang="uk-UA" dirty="0"/>
              <a:t>» інструкцією </a:t>
            </a:r>
            <a:r>
              <a:rPr lang="en-US" dirty="0"/>
              <a:t>JMP</a:t>
            </a:r>
            <a:r>
              <a:rPr lang="uk-UA" dirty="0"/>
              <a:t> і, відповідно, не виконані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6FF047-4C85-894F-0193-BAB54FACD3D5}"/>
              </a:ext>
            </a:extLst>
          </p:cNvPr>
          <p:cNvSpPr txBox="1"/>
          <p:nvPr/>
        </p:nvSpPr>
        <p:spPr>
          <a:xfrm>
            <a:off x="311700" y="2682118"/>
            <a:ext cx="3155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[ 80000101 ] LOADI      2, 1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[ 80000238 ] JMP        5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[ 00020013 ] NEWTABLE   0, 2, 0</a:t>
            </a:r>
            <a:endParaRPr lang="en-US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[ 00000054 ] EXTRAARG   0</a:t>
            </a:r>
            <a:endParaRPr lang="en-US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[ 02018012 ] SETFIELD   0, 1, 2</a:t>
            </a:r>
            <a:endParaRPr lang="en-US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[ 04038012 ] SETFIELD   0, 3, 4</a:t>
            </a:r>
            <a:endParaRPr lang="en-US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[ 0000000F ] SETTABUP   0, 0, 0</a:t>
            </a:r>
            <a:endParaRPr lang="en-US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[ 00010180 ] MOVE       3, 1, 0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3DAAF3-DAE7-4850-141A-1DE7C423FFAA}"/>
              </a:ext>
            </a:extLst>
          </p:cNvPr>
          <p:cNvSpPr txBox="1"/>
          <p:nvPr/>
        </p:nvSpPr>
        <p:spPr>
          <a:xfrm>
            <a:off x="311700" y="2374341"/>
            <a:ext cx="1390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Прик</a:t>
            </a:r>
            <a:r>
              <a:rPr lang="uk-UA" dirty="0"/>
              <a:t>лад: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FA91CA-8B29-4FE4-C110-6EB29A0F071A}"/>
              </a:ext>
            </a:extLst>
          </p:cNvPr>
          <p:cNvSpPr txBox="1"/>
          <p:nvPr/>
        </p:nvSpPr>
        <p:spPr>
          <a:xfrm>
            <a:off x="5200650" y="857250"/>
            <a:ext cx="2790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/>
              <a:t>Проміжні </a:t>
            </a:r>
            <a:r>
              <a:rPr lang="en-US" b="1" dirty="0"/>
              <a:t>MOVE-</a:t>
            </a:r>
            <a:r>
              <a:rPr lang="uk-UA" b="1" dirty="0"/>
              <a:t>інструкції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C9BE84-A71F-CC6F-781E-07A0EE2AA1CF}"/>
              </a:ext>
            </a:extLst>
          </p:cNvPr>
          <p:cNvSpPr txBox="1"/>
          <p:nvPr/>
        </p:nvSpPr>
        <p:spPr>
          <a:xfrm>
            <a:off x="5200650" y="1165027"/>
            <a:ext cx="34385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Метод полягає в додаванні інструкцій, які переміщують значення декілька разів з одного регістра в інший, з метою ускладнення аналізу коду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470790-2251-A666-6E22-E168CDE8A382}"/>
              </a:ext>
            </a:extLst>
          </p:cNvPr>
          <p:cNvSpPr txBox="1"/>
          <p:nvPr/>
        </p:nvSpPr>
        <p:spPr>
          <a:xfrm>
            <a:off x="5200650" y="2374341"/>
            <a:ext cx="1428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Приклад: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63565C-9D6B-2711-EAC9-23065631FCCC}"/>
              </a:ext>
            </a:extLst>
          </p:cNvPr>
          <p:cNvSpPr txBox="1"/>
          <p:nvPr/>
        </p:nvSpPr>
        <p:spPr>
          <a:xfrm>
            <a:off x="5200650" y="2682118"/>
            <a:ext cx="34385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[ 80000101 ] LOADI      2, 1</a:t>
            </a:r>
          </a:p>
          <a:p>
            <a:r>
              <a:rPr lang="en-US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[ 00010300 ] MOVE       6, 1, 0</a:t>
            </a:r>
          </a:p>
          <a:p>
            <a:r>
              <a:rPr lang="en-US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[ 00060280 ] MOVE       5, 6, 0</a:t>
            </a:r>
          </a:p>
          <a:p>
            <a:r>
              <a:rPr lang="en-US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[ 00050200 ] MOVE       4, 5, 0</a:t>
            </a:r>
          </a:p>
          <a:p>
            <a:r>
              <a:rPr lang="en-US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[ 00040180 ] MOVE       3, 4, 0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[ 89030195 ] ADDI       3, 3, 10</a:t>
            </a:r>
          </a:p>
        </p:txBody>
      </p:sp>
    </p:spTree>
    <p:extLst>
      <p:ext uri="{BB962C8B-B14F-4D97-AF65-F5344CB8AC3E}">
        <p14:creationId xmlns:p14="http://schemas.microsoft.com/office/powerpoint/2010/main" val="2821099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8925" y="148624"/>
            <a:ext cx="8520600" cy="1483325"/>
          </a:xfrm>
        </p:spPr>
        <p:txBody>
          <a:bodyPr>
            <a:noAutofit/>
          </a:bodyPr>
          <a:lstStyle/>
          <a:p>
            <a:r>
              <a:rPr lang="ru-RU" sz="3600" dirty="0" err="1"/>
              <a:t>Деобфускація</a:t>
            </a:r>
            <a:r>
              <a:rPr lang="ru-RU" sz="3600" dirty="0"/>
              <a:t> (на </a:t>
            </a:r>
            <a:r>
              <a:rPr lang="ru-RU" sz="3600" dirty="0" err="1"/>
              <a:t>прикладі</a:t>
            </a:r>
            <a:r>
              <a:rPr lang="ru-RU" sz="3600" dirty="0"/>
              <a:t> </a:t>
            </a:r>
            <a:r>
              <a:rPr lang="ru-RU" sz="3600" dirty="0" err="1"/>
              <a:t>видалення</a:t>
            </a:r>
            <a:r>
              <a:rPr lang="ru-RU" sz="3600" dirty="0"/>
              <a:t> «мертвого» коду)</a:t>
            </a:r>
            <a:endParaRPr lang="en-US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CD13A3-6204-98EF-5A96-10107385B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987" y="1503939"/>
            <a:ext cx="4534538" cy="28364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7B8150-64AC-030B-6EE8-8E66F14F32CC}"/>
              </a:ext>
            </a:extLst>
          </p:cNvPr>
          <p:cNvSpPr txBox="1"/>
          <p:nvPr/>
        </p:nvSpPr>
        <p:spPr>
          <a:xfrm>
            <a:off x="354475" y="1631949"/>
            <a:ext cx="264795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[ 00000053 ] VARARGPREP 0, 0, 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[ 80148001 ] LOADI      0, 42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[ 009D0040 ] GTI        0, 30, 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[ 800000B8 ] JMP        2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[ 89000015 ] ADDI       0, 0, 10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[ 0689002F ] MMBINI     0, 10, 6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[ 00000018 ] MULK       0, 0, 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[ 08000030 ] MMBINK     0, 0, 8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[ 800001B8 ] JMP        4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[ 7FFF8001 ] LOADI      0, 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[ 7FFF8001 ] LOADI      0, 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[ 7FFF8001 ] LOADI      0, 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[ 7FFF8001 ] LOADI      0, 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[ 0100008B ] GETTABUP   1, 0, 1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[ 00000100 ] MOVE       2, 0, 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[ 010200C4 ] CALL       1, 2, 1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[ 010100C6 ] RETURN     1, 1, 1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39E7D75-F0B9-E568-B443-88BEFD58071E}"/>
              </a:ext>
            </a:extLst>
          </p:cNvPr>
          <p:cNvSpPr/>
          <p:nvPr/>
        </p:nvSpPr>
        <p:spPr>
          <a:xfrm>
            <a:off x="3460750" y="2571750"/>
            <a:ext cx="571500" cy="1016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7FB3D7-11E8-0C03-5743-CE42BE29DCDF}"/>
              </a:ext>
            </a:extLst>
          </p:cNvPr>
          <p:cNvSpPr txBox="1"/>
          <p:nvPr/>
        </p:nvSpPr>
        <p:spPr>
          <a:xfrm>
            <a:off x="4311649" y="4471656"/>
            <a:ext cx="4477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Рисунок 2 – Граф потоку керування </a:t>
            </a:r>
            <a:r>
              <a:rPr lang="en-US" dirty="0"/>
              <a:t>(control flow graph)</a:t>
            </a:r>
          </a:p>
        </p:txBody>
      </p:sp>
    </p:spTree>
    <p:extLst>
      <p:ext uri="{BB962C8B-B14F-4D97-AF65-F5344CB8AC3E}">
        <p14:creationId xmlns:p14="http://schemas.microsoft.com/office/powerpoint/2010/main" val="1904464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40" y="0"/>
            <a:ext cx="8520600" cy="685800"/>
          </a:xfrm>
        </p:spPr>
        <p:txBody>
          <a:bodyPr>
            <a:normAutofit fontScale="90000"/>
          </a:bodyPr>
          <a:lstStyle/>
          <a:p>
            <a:r>
              <a:rPr lang="ru-RU" sz="3200" dirty="0" err="1"/>
              <a:t>Планування</a:t>
            </a:r>
            <a:r>
              <a:rPr lang="ru-RU" sz="3200" dirty="0"/>
              <a:t> </a:t>
            </a:r>
            <a:r>
              <a:rPr lang="ru-RU" sz="3200" dirty="0" err="1"/>
              <a:t>експериментального</a:t>
            </a:r>
            <a:r>
              <a:rPr lang="ru-RU" sz="3200" dirty="0"/>
              <a:t> </a:t>
            </a:r>
            <a:r>
              <a:rPr lang="ru-RU" sz="3200" dirty="0" err="1"/>
              <a:t>дослідження</a:t>
            </a:r>
            <a:endParaRPr lang="en-US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027137-B2BC-C7C2-0B93-3FD1B50F1E59}"/>
              </a:ext>
            </a:extLst>
          </p:cNvPr>
          <p:cNvSpPr txBox="1"/>
          <p:nvPr/>
        </p:nvSpPr>
        <p:spPr>
          <a:xfrm>
            <a:off x="428540" y="1174750"/>
            <a:ext cx="8232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/>
              <a:t>Мета експериментів:</a:t>
            </a:r>
            <a:r>
              <a:rPr lang="uk-UA" dirty="0"/>
              <a:t> </a:t>
            </a:r>
            <a:r>
              <a:rPr lang="ru-RU" dirty="0" err="1"/>
              <a:t>перевірка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</a:t>
            </a:r>
            <a:r>
              <a:rPr lang="ru-RU" dirty="0" err="1"/>
              <a:t>дизасемблера</a:t>
            </a:r>
            <a:r>
              <a:rPr lang="ru-RU" dirty="0"/>
              <a:t> та </a:t>
            </a:r>
            <a:r>
              <a:rPr lang="ru-RU" dirty="0" err="1"/>
              <a:t>оцінка</a:t>
            </a:r>
            <a:r>
              <a:rPr lang="ru-RU" dirty="0"/>
              <a:t> </a:t>
            </a:r>
            <a:r>
              <a:rPr lang="ru-RU" dirty="0" err="1"/>
              <a:t>ефективності</a:t>
            </a:r>
            <a:r>
              <a:rPr lang="ru-RU" dirty="0"/>
              <a:t> </a:t>
            </a:r>
            <a:r>
              <a:rPr lang="ru-RU" dirty="0" err="1"/>
              <a:t>реалізованих</a:t>
            </a:r>
            <a:r>
              <a:rPr lang="ru-RU" dirty="0"/>
              <a:t> </a:t>
            </a:r>
            <a:r>
              <a:rPr lang="ru-RU" dirty="0" err="1"/>
              <a:t>алгоритмів</a:t>
            </a:r>
            <a:r>
              <a:rPr lang="ru-RU" dirty="0"/>
              <a:t> </a:t>
            </a:r>
            <a:r>
              <a:rPr lang="ru-RU" dirty="0" err="1"/>
              <a:t>деобфускації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1E7874-D3B5-87EA-DEB9-5489608E8077}"/>
              </a:ext>
            </a:extLst>
          </p:cNvPr>
          <p:cNvSpPr txBox="1"/>
          <p:nvPr/>
        </p:nvSpPr>
        <p:spPr>
          <a:xfrm>
            <a:off x="428540" y="1944131"/>
            <a:ext cx="38005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/>
              <a:t>Тестові сценарії:</a:t>
            </a:r>
          </a:p>
          <a:p>
            <a:r>
              <a:rPr lang="ru-RU" dirty="0"/>
              <a:t>- </a:t>
            </a:r>
            <a:r>
              <a:rPr lang="ru-RU" dirty="0" err="1"/>
              <a:t>базове</a:t>
            </a:r>
            <a:r>
              <a:rPr lang="ru-RU" dirty="0"/>
              <a:t> </a:t>
            </a:r>
            <a:r>
              <a:rPr lang="ru-RU" dirty="0" err="1"/>
              <a:t>дизасемблювання</a:t>
            </a:r>
            <a:r>
              <a:rPr lang="ru-RU" dirty="0"/>
              <a:t> </a:t>
            </a:r>
            <a:r>
              <a:rPr lang="en-US" dirty="0"/>
              <a:t>Lua</a:t>
            </a:r>
            <a:r>
              <a:rPr lang="uk-UA" dirty="0"/>
              <a:t> </a:t>
            </a:r>
            <a:r>
              <a:rPr lang="ru-RU" dirty="0" err="1"/>
              <a:t>байткоду</a:t>
            </a:r>
            <a:endParaRPr lang="ru-RU" dirty="0"/>
          </a:p>
          <a:p>
            <a:r>
              <a:rPr lang="ru-RU" dirty="0"/>
              <a:t>- </a:t>
            </a:r>
            <a:r>
              <a:rPr lang="ru-RU" dirty="0" err="1"/>
              <a:t>видалення</a:t>
            </a:r>
            <a:r>
              <a:rPr lang="ru-RU" dirty="0"/>
              <a:t> «мертвого» коду;</a:t>
            </a:r>
          </a:p>
          <a:p>
            <a:r>
              <a:rPr lang="ru-RU" dirty="0"/>
              <a:t>- </a:t>
            </a:r>
            <a:r>
              <a:rPr lang="ru-RU" dirty="0" err="1"/>
              <a:t>спрощення</a:t>
            </a:r>
            <a:r>
              <a:rPr lang="ru-RU" dirty="0"/>
              <a:t> </a:t>
            </a:r>
            <a:r>
              <a:rPr lang="ru-RU" dirty="0" err="1"/>
              <a:t>ланцюжків</a:t>
            </a:r>
            <a:r>
              <a:rPr lang="ru-RU" dirty="0"/>
              <a:t> </a:t>
            </a:r>
            <a:r>
              <a:rPr lang="en-US" dirty="0"/>
              <a:t>MOVE-</a:t>
            </a:r>
            <a:r>
              <a:rPr lang="ru-RU" dirty="0" err="1"/>
              <a:t>інструкцій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6E04D9-1033-4B5C-5E61-1BFAD762C500}"/>
              </a:ext>
            </a:extLst>
          </p:cNvPr>
          <p:cNvSpPr txBox="1"/>
          <p:nvPr/>
        </p:nvSpPr>
        <p:spPr>
          <a:xfrm>
            <a:off x="428540" y="3144399"/>
            <a:ext cx="38005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/>
              <a:t>Метрики:</a:t>
            </a:r>
          </a:p>
          <a:p>
            <a:r>
              <a:rPr lang="ru-RU" dirty="0"/>
              <a:t>- </a:t>
            </a:r>
            <a:r>
              <a:rPr lang="ru-RU" dirty="0" err="1"/>
              <a:t>коректність</a:t>
            </a:r>
            <a:r>
              <a:rPr lang="ru-RU" dirty="0"/>
              <a:t> </a:t>
            </a:r>
            <a:r>
              <a:rPr lang="ru-RU" dirty="0" err="1"/>
              <a:t>дизасемблювання</a:t>
            </a:r>
            <a:r>
              <a:rPr lang="ru-RU" dirty="0"/>
              <a:t>;</a:t>
            </a:r>
          </a:p>
          <a:p>
            <a:r>
              <a:rPr lang="ru-RU" dirty="0"/>
              <a:t>- </a:t>
            </a:r>
            <a:r>
              <a:rPr lang="ru-RU" dirty="0" err="1"/>
              <a:t>зменшення</a:t>
            </a:r>
            <a:r>
              <a:rPr lang="ru-RU" dirty="0"/>
              <a:t> </a:t>
            </a:r>
            <a:r>
              <a:rPr lang="ru-RU" dirty="0" err="1"/>
              <a:t>кількості</a:t>
            </a:r>
            <a:r>
              <a:rPr lang="ru-RU" dirty="0"/>
              <a:t> </a:t>
            </a:r>
            <a:r>
              <a:rPr lang="ru-RU" dirty="0" err="1"/>
              <a:t>зайвих</a:t>
            </a:r>
            <a:r>
              <a:rPr lang="ru-RU" dirty="0"/>
              <a:t> </a:t>
            </a:r>
            <a:r>
              <a:rPr lang="ru-RU" dirty="0" err="1"/>
              <a:t>інструкцій</a:t>
            </a:r>
            <a:r>
              <a:rPr lang="ru-RU" dirty="0"/>
              <a:t>;</a:t>
            </a:r>
          </a:p>
          <a:p>
            <a:r>
              <a:rPr lang="ru-RU" dirty="0"/>
              <a:t>- </a:t>
            </a:r>
            <a:r>
              <a:rPr lang="ru-RU" dirty="0" err="1"/>
              <a:t>покращення</a:t>
            </a:r>
            <a:r>
              <a:rPr lang="ru-RU" dirty="0"/>
              <a:t> </a:t>
            </a:r>
            <a:r>
              <a:rPr lang="ru-RU" dirty="0" err="1"/>
              <a:t>читабельності</a:t>
            </a:r>
            <a:r>
              <a:rPr lang="ru-RU" dirty="0"/>
              <a:t> </a:t>
            </a:r>
            <a:r>
              <a:rPr lang="ru-RU" dirty="0" err="1"/>
              <a:t>байткоду</a:t>
            </a:r>
            <a:r>
              <a:rPr lang="ru-RU" dirty="0"/>
              <a:t>.</a:t>
            </a:r>
            <a:endParaRPr lang="en-US" dirty="0"/>
          </a:p>
        </p:txBody>
      </p:sp>
      <p:pic>
        <p:nvPicPr>
          <p:cNvPr id="13" name="Google Shape;64;p13">
            <a:extLst>
              <a:ext uri="{FF2B5EF4-FFF2-40B4-BE49-F238E27FC236}">
                <a16:creationId xmlns:a16="http://schemas.microsoft.com/office/drawing/2014/main" id="{A69D4227-D7CB-4418-2164-FF86E4B4F9F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5277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CAFB7-9631-1DA2-7473-AA0882695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F416E9-FCE5-621E-E0DE-FECF9E961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40" y="0"/>
            <a:ext cx="8520600" cy="685800"/>
          </a:xfrm>
        </p:spPr>
        <p:txBody>
          <a:bodyPr>
            <a:normAutofit/>
          </a:bodyPr>
          <a:lstStyle/>
          <a:p>
            <a:r>
              <a:rPr lang="ru-RU" sz="3200" dirty="0" err="1"/>
              <a:t>Результати</a:t>
            </a:r>
            <a:r>
              <a:rPr lang="ru-RU" sz="3200" dirty="0"/>
              <a:t> </a:t>
            </a:r>
            <a:r>
              <a:rPr lang="ru-RU" sz="3200" dirty="0" err="1"/>
              <a:t>експериментів</a:t>
            </a:r>
            <a:endParaRPr lang="en-US" sz="3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543BF8-F1FC-F6E5-8D77-AB17B58D8A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Google Shape;64;p13">
            <a:extLst>
              <a:ext uri="{FF2B5EF4-FFF2-40B4-BE49-F238E27FC236}">
                <a16:creationId xmlns:a16="http://schemas.microsoft.com/office/drawing/2014/main" id="{30EB26E7-AFB2-0B11-0A08-0046FB4C39E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0E95AC5-DD64-B778-6741-7E6FFEB11247}"/>
              </a:ext>
            </a:extLst>
          </p:cNvPr>
          <p:cNvSpPr txBox="1">
            <a:spLocks/>
          </p:cNvSpPr>
          <p:nvPr/>
        </p:nvSpPr>
        <p:spPr>
          <a:xfrm>
            <a:off x="428540" y="685800"/>
            <a:ext cx="387676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 sz="1800" dirty="0" err="1"/>
              <a:t>Базовий</a:t>
            </a:r>
            <a:r>
              <a:rPr lang="ru-RU" sz="1800" dirty="0"/>
              <a:t> </a:t>
            </a:r>
            <a:r>
              <a:rPr lang="ru-RU" sz="1800" dirty="0" err="1"/>
              <a:t>сценарій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9BECA7-EAED-3CA1-51B2-485D92BC15F3}"/>
              </a:ext>
            </a:extLst>
          </p:cNvPr>
          <p:cNvSpPr txBox="1"/>
          <p:nvPr/>
        </p:nvSpPr>
        <p:spPr>
          <a:xfrm>
            <a:off x="428540" y="1155700"/>
            <a:ext cx="1924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Код на </a:t>
            </a:r>
            <a:r>
              <a:rPr lang="en-US" dirty="0"/>
              <a:t>Lua: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F9F7C-7D76-76E6-4CBE-8234409B9F15}"/>
              </a:ext>
            </a:extLst>
          </p:cNvPr>
          <p:cNvSpPr txBox="1"/>
          <p:nvPr/>
        </p:nvSpPr>
        <p:spPr>
          <a:xfrm>
            <a:off x="428540" y="1463477"/>
            <a:ext cx="22479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local sum = 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local limit = 10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1, limit do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% 2 == 0 then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sum = sum +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end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print(sum)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268CD-015A-8A60-75D4-35EB41D90D0E}"/>
              </a:ext>
            </a:extLst>
          </p:cNvPr>
          <p:cNvSpPr txBox="1"/>
          <p:nvPr/>
        </p:nvSpPr>
        <p:spPr>
          <a:xfrm>
            <a:off x="4054390" y="1155700"/>
            <a:ext cx="2247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Вивід </a:t>
            </a:r>
            <a:r>
              <a:rPr lang="uk-UA" dirty="0" err="1"/>
              <a:t>дизасемблера</a:t>
            </a:r>
            <a:r>
              <a:rPr lang="uk-UA" dirty="0"/>
              <a:t>: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1AF8B4-3597-5D93-0021-614FA8C1D975}"/>
              </a:ext>
            </a:extLst>
          </p:cNvPr>
          <p:cNvSpPr txBox="1"/>
          <p:nvPr/>
        </p:nvSpPr>
        <p:spPr>
          <a:xfrm>
            <a:off x="4054390" y="1463477"/>
            <a:ext cx="30131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[ 00000053 ] VARARGPREP 0, 0,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[ 7FFF8001 ] LOADI      0,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[ 80048081 ] LOADI      1, 10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[ 80000101 ] LOADI      2, 1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[ 00010180 ] MOVE       3, 1,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[ 80000201 ] LOADI      4, 1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[ 0003014A ] FORPREP    2, 6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[ 00040299 ] MODK       5, 4,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[ 09000230 ] MMBINK     4, 0, 9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[ 007F02BD ] EQI        5, 0,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[ 800000B8 ] JMP        2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[ 04000022 ] ADD        0, 0, 4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[ 0604002E ] MMBIN      0, 4, 6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[ 00038149 ] FORLOOP    2, 7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[ 0100010B ] GETTABUP   2, 0, 1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[ 00000180 ] MOVE       3, 0,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[ 01020144 ] CALL       2, 2, 1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[ 01010146 ] RETURN     2, 1,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913DE5-3A45-EEC3-5886-275DA17539AA}"/>
              </a:ext>
            </a:extLst>
          </p:cNvPr>
          <p:cNvSpPr txBox="1"/>
          <p:nvPr/>
        </p:nvSpPr>
        <p:spPr>
          <a:xfrm>
            <a:off x="1387798" y="4303811"/>
            <a:ext cx="3301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 err="1"/>
              <a:t>Дизасемблер</a:t>
            </a:r>
            <a:r>
              <a:rPr lang="uk-UA" dirty="0"/>
              <a:t> працює </a:t>
            </a:r>
            <a:r>
              <a:rPr lang="uk-UA" dirty="0" err="1"/>
              <a:t>коректно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667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5F3D0-4055-3B0C-E9D3-196DEBC6F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A95A9-6345-6745-01E4-FBE60DFCE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40" y="0"/>
            <a:ext cx="8520600" cy="685800"/>
          </a:xfrm>
        </p:spPr>
        <p:txBody>
          <a:bodyPr>
            <a:normAutofit/>
          </a:bodyPr>
          <a:lstStyle/>
          <a:p>
            <a:r>
              <a:rPr lang="ru-RU" sz="3200" dirty="0" err="1"/>
              <a:t>Результати</a:t>
            </a:r>
            <a:r>
              <a:rPr lang="ru-RU" sz="3200" dirty="0"/>
              <a:t> </a:t>
            </a:r>
            <a:r>
              <a:rPr lang="ru-RU" sz="3200" dirty="0" err="1"/>
              <a:t>експериментів</a:t>
            </a:r>
            <a:endParaRPr lang="en-US" sz="3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31381C-F9A5-3CD2-A87B-C9CCCC2CF3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Google Shape;64;p13">
            <a:extLst>
              <a:ext uri="{FF2B5EF4-FFF2-40B4-BE49-F238E27FC236}">
                <a16:creationId xmlns:a16="http://schemas.microsoft.com/office/drawing/2014/main" id="{0D061F93-8F4D-EACD-A044-EEB2C02A202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8DBDF9C-8F09-755E-4654-BB6567CF5DEE}"/>
              </a:ext>
            </a:extLst>
          </p:cNvPr>
          <p:cNvSpPr txBox="1">
            <a:spLocks/>
          </p:cNvSpPr>
          <p:nvPr/>
        </p:nvSpPr>
        <p:spPr>
          <a:xfrm>
            <a:off x="428540" y="685800"/>
            <a:ext cx="387676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 sz="1800" dirty="0" err="1"/>
              <a:t>Видалення</a:t>
            </a:r>
            <a:r>
              <a:rPr lang="ru-RU" sz="1800" dirty="0"/>
              <a:t> «мертвого» коду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B566B-5056-3D76-1DDB-03EB9AD112D0}"/>
              </a:ext>
            </a:extLst>
          </p:cNvPr>
          <p:cNvSpPr txBox="1"/>
          <p:nvPr/>
        </p:nvSpPr>
        <p:spPr>
          <a:xfrm>
            <a:off x="428539" y="1155700"/>
            <a:ext cx="3436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err="1"/>
              <a:t>Обфускований</a:t>
            </a:r>
            <a:r>
              <a:rPr lang="uk-UA" dirty="0"/>
              <a:t> </a:t>
            </a:r>
            <a:r>
              <a:rPr lang="uk-UA" dirty="0" err="1"/>
              <a:t>байткод</a:t>
            </a:r>
            <a:r>
              <a:rPr lang="uk-UA" dirty="0"/>
              <a:t> (скорочений):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77CD59-18CA-F7FE-31AC-5262F876BF13}"/>
              </a:ext>
            </a:extLst>
          </p:cNvPr>
          <p:cNvSpPr txBox="1"/>
          <p:nvPr/>
        </p:nvSpPr>
        <p:spPr>
          <a:xfrm>
            <a:off x="428539" y="1463477"/>
            <a:ext cx="272297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[ 00000053 ] VARARGPREP 0, 0, 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[ 7FFF8001 ] LOADI      0, 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[ 80048081 ] LOADI      1, 10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[ 80000101 ] LOADI      2, 1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[ 80000238 ] JMP        5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[ 00020013 ] NEWTABLE   0, 2, 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[ 00000054 ] EXTRAARG   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[ 02018012 ] SETFIELD   0, 1, 2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[ 04038012 ] SETFIELD   0, 3, 4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[ 0000000F ] SETTABUP   0, 0, 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[ 00010180 ] MOVE       3, 1, 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[ 01010146 ] RETURN     2, 1,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EF73BF-121E-2397-CCA7-65A73F9A4352}"/>
              </a:ext>
            </a:extLst>
          </p:cNvPr>
          <p:cNvSpPr txBox="1"/>
          <p:nvPr/>
        </p:nvSpPr>
        <p:spPr>
          <a:xfrm>
            <a:off x="4868536" y="1155700"/>
            <a:ext cx="2578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err="1"/>
              <a:t>Деобфускований</a:t>
            </a:r>
            <a:r>
              <a:rPr lang="uk-UA" dirty="0"/>
              <a:t> </a:t>
            </a:r>
            <a:r>
              <a:rPr lang="uk-UA" dirty="0" err="1"/>
              <a:t>байткод</a:t>
            </a:r>
            <a:r>
              <a:rPr lang="uk-UA" dirty="0"/>
              <a:t>: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BB0F43-2BD5-B20C-7C02-2D1B4350860E}"/>
              </a:ext>
            </a:extLst>
          </p:cNvPr>
          <p:cNvSpPr txBox="1"/>
          <p:nvPr/>
        </p:nvSpPr>
        <p:spPr>
          <a:xfrm>
            <a:off x="4868536" y="1463477"/>
            <a:ext cx="30131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[ 00000053 ] VARARGPREP 0, 0,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[ 7FFF8001 ] LOADI      0,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[ 80048081 ] LOADI      1, 10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[ 80000101 ] LOADI      2, 1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[ 00010180 ] MOVE       3, 1,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[ 80000201 ] LOADI      4, 1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[ 0003014A ] FORPREP    2, 6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[ 00040299 ] MODK       5, 4,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[ 09000230 ] MMBINK     4, 0, 9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[ 007F02BD ] EQI        5, 0,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[ 800000B8 ] JMP        2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[ 04000022 ] ADD        0, 0, 4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[ 0604002E ] MMBIN      0, 4, 6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[ 00038149 ] FORLOOP    2, 7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[ 0100010B ] GETTABUP   2, 0, 1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[ 00000180 ] MOVE       3, 0,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[ 01020144 ] CALL       2, 2, 1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[ 01010146 ] RETURN     2, 1,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47BF26-525C-5A1E-13C6-BA2C5361074B}"/>
              </a:ext>
            </a:extLst>
          </p:cNvPr>
          <p:cNvSpPr txBox="1"/>
          <p:nvPr/>
        </p:nvSpPr>
        <p:spPr>
          <a:xfrm>
            <a:off x="1387798" y="4303811"/>
            <a:ext cx="50130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/>
              <a:t>Алгоритм видалив всі недосяжні частини коду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 err="1"/>
              <a:t>Байткод</a:t>
            </a:r>
            <a:r>
              <a:rPr lang="uk-UA" dirty="0"/>
              <a:t> приведено до початкового (відповідно читабельного) вигляду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80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D84E2-3921-992A-F705-5250279BC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1089B0-8D60-B3B2-3ABE-A372035F5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40" y="0"/>
            <a:ext cx="8520600" cy="685800"/>
          </a:xfrm>
        </p:spPr>
        <p:txBody>
          <a:bodyPr>
            <a:normAutofit/>
          </a:bodyPr>
          <a:lstStyle/>
          <a:p>
            <a:r>
              <a:rPr lang="ru-RU" sz="3200" dirty="0" err="1"/>
              <a:t>Результати</a:t>
            </a:r>
            <a:r>
              <a:rPr lang="ru-RU" sz="3200" dirty="0"/>
              <a:t> </a:t>
            </a:r>
            <a:r>
              <a:rPr lang="ru-RU" sz="3200" dirty="0" err="1"/>
              <a:t>експериментів</a:t>
            </a:r>
            <a:endParaRPr lang="en-US" sz="3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60AFBB-38BE-144A-3C82-68E94FDA5C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Google Shape;64;p13">
            <a:extLst>
              <a:ext uri="{FF2B5EF4-FFF2-40B4-BE49-F238E27FC236}">
                <a16:creationId xmlns:a16="http://schemas.microsoft.com/office/drawing/2014/main" id="{18459383-3F64-1796-3FAC-E80E65E1405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E8ECBE8B-B920-6AE5-5A9F-077F2B8C369B}"/>
              </a:ext>
            </a:extLst>
          </p:cNvPr>
          <p:cNvSpPr txBox="1">
            <a:spLocks/>
          </p:cNvSpPr>
          <p:nvPr/>
        </p:nvSpPr>
        <p:spPr>
          <a:xfrm>
            <a:off x="428540" y="685800"/>
            <a:ext cx="4678298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 sz="1800" dirty="0" err="1"/>
              <a:t>Спрощення</a:t>
            </a:r>
            <a:r>
              <a:rPr lang="ru-RU" sz="1800" dirty="0"/>
              <a:t> </a:t>
            </a:r>
            <a:r>
              <a:rPr lang="ru-RU" sz="1800" dirty="0" err="1"/>
              <a:t>ланцюжків</a:t>
            </a:r>
            <a:r>
              <a:rPr lang="ru-RU" sz="1800" dirty="0"/>
              <a:t> </a:t>
            </a:r>
            <a:r>
              <a:rPr lang="en-US" sz="1800" dirty="0"/>
              <a:t>MOVE-</a:t>
            </a:r>
            <a:r>
              <a:rPr lang="uk-UA" sz="1800" dirty="0"/>
              <a:t>інструкцій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2D6944-E58D-3F57-FF22-69D3BE1DFD7F}"/>
              </a:ext>
            </a:extLst>
          </p:cNvPr>
          <p:cNvSpPr txBox="1"/>
          <p:nvPr/>
        </p:nvSpPr>
        <p:spPr>
          <a:xfrm>
            <a:off x="428539" y="1155700"/>
            <a:ext cx="3436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err="1"/>
              <a:t>Обфускований</a:t>
            </a:r>
            <a:r>
              <a:rPr lang="uk-UA" dirty="0"/>
              <a:t> </a:t>
            </a:r>
            <a:r>
              <a:rPr lang="uk-UA" dirty="0" err="1"/>
              <a:t>байткод</a:t>
            </a:r>
            <a:r>
              <a:rPr lang="uk-UA" dirty="0"/>
              <a:t>: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B709FB-F142-39C7-1D60-B5976C6FF877}"/>
              </a:ext>
            </a:extLst>
          </p:cNvPr>
          <p:cNvSpPr txBox="1"/>
          <p:nvPr/>
        </p:nvSpPr>
        <p:spPr>
          <a:xfrm>
            <a:off x="428539" y="1463477"/>
            <a:ext cx="2722977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[ 00000053 ] VARARGPREP 0, 0,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[ 7FFF8001 ] LOADI      0,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[ 80048081 ] LOADI      1, 10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[ 80000101 ] LOADI      2, 1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[ 00010300 ] MOVE       6, 1,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[ 00060280 ] MOVE       5, 6,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[ 00050200 ] MOVE       4, 5,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[ 00040180 ] MOVE       3, 4,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[ 89030195 ] ADDI       3, 3, 10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[ 75030195 ] ADDI       3, 3, -10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[ 80000201 ] LOADI      4, 1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[ 0003014A ] FORPREP    2, 6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[ 00040299 ] MODK       5, 4,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[ 09000230 ] MMBINK     4, 0, 9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[ 007F02BD ] EQI        5, 0,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[ 800000B8 ] JMP        2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[ 04000022 ] ADD        0, 0, 4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[ 0604002E ] MMBIN      0, 4, 6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[ 00038149 ] FORLOOP    2, 7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[ 0100010B ] GETTABUP   2, 0, 1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[ 00000180 ] MOVE       3, 0,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[ 01020144 ] CALL       2, 2, 1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[ 01010146 ] RETURN     2, 1,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3227B8-A581-78C3-3BAC-8D849673F604}"/>
              </a:ext>
            </a:extLst>
          </p:cNvPr>
          <p:cNvSpPr txBox="1"/>
          <p:nvPr/>
        </p:nvSpPr>
        <p:spPr>
          <a:xfrm>
            <a:off x="4868536" y="1155700"/>
            <a:ext cx="2578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err="1"/>
              <a:t>Деобфускований</a:t>
            </a:r>
            <a:r>
              <a:rPr lang="uk-UA" dirty="0"/>
              <a:t> </a:t>
            </a:r>
            <a:r>
              <a:rPr lang="uk-UA" dirty="0" err="1"/>
              <a:t>байткод</a:t>
            </a:r>
            <a:r>
              <a:rPr lang="uk-UA" dirty="0"/>
              <a:t>: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A17968-E6D8-3DDA-B11B-D51398FD2CE2}"/>
              </a:ext>
            </a:extLst>
          </p:cNvPr>
          <p:cNvSpPr txBox="1"/>
          <p:nvPr/>
        </p:nvSpPr>
        <p:spPr>
          <a:xfrm>
            <a:off x="4868536" y="1463477"/>
            <a:ext cx="30131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[ 00000053 ] VARARGPREP 0, 0,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[ 7FFF8001 ] LOADI      0,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[ 80048081 ] LOADI      1, 10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[ 80000101 ] LOADI      2, 1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[ 00010180 ] MOVE       3, 1,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[ 89030195 ] ADDI       3, 3, 10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[ 75030195 ] ADDI       3, 3, -10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[ 80000201 ] LOADI      4, 1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[ 0003014A ] FORPREP    2, 6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[ 00040299 ] MODK       5, 4,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[ 09000230 ] MMBINK     4, 0, 9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[ 007F02BD ] EQI        5, 0,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[ 800000B8 ] JMP        2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[ 04000022 ] ADD        0, 0, 4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[ 0604002E ] MMBIN      0, 4, 6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[ 00038149 ] FORLOOP    2, 7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[ 0100010B ] GETTABUP   2, 0, 1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[ 00000180 ] MOVE       3, 0, 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[ 01020144 ] CALL       2, 2, 1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[ 01010146 ] RETURN     2, 1,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19DBDA-59C5-DE22-27AE-F27A2D8B2F00}"/>
              </a:ext>
            </a:extLst>
          </p:cNvPr>
          <p:cNvSpPr txBox="1"/>
          <p:nvPr/>
        </p:nvSpPr>
        <p:spPr>
          <a:xfrm>
            <a:off x="1296693" y="4387354"/>
            <a:ext cx="678429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100" dirty="0"/>
              <a:t>Алгоритм спростив</a:t>
            </a:r>
            <a:r>
              <a:rPr lang="en-US" sz="1100" dirty="0"/>
              <a:t> MOVE</a:t>
            </a:r>
            <a:r>
              <a:rPr lang="uk-UA" sz="1100" dirty="0"/>
              <a:t>-інструкції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100" dirty="0"/>
              <a:t>Більш складні зайві інструкції (в цьому випадку - арифметичні операції) не були видалені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100" dirty="0" err="1"/>
              <a:t>Деобфускований</a:t>
            </a:r>
            <a:r>
              <a:rPr lang="uk-UA" sz="1100" dirty="0"/>
              <a:t> код все ще є читабельним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61763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4CC7D-9AFB-489C-9538-894AE9A33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Апробація результатів роботи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84C56-C8B3-FD41-5678-7F82B9E0E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5225"/>
            <a:ext cx="7777736" cy="663645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ru-RU" sz="1400" dirty="0" err="1">
                <a:latin typeface="+mn-lt"/>
              </a:rPr>
              <a:t>Основні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результати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кваліфікаційної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роботи</a:t>
            </a:r>
            <a:r>
              <a:rPr lang="ru-RU" sz="1400" dirty="0">
                <a:latin typeface="+mn-lt"/>
              </a:rPr>
              <a:t> були </a:t>
            </a:r>
            <a:r>
              <a:rPr lang="ru-RU" sz="1400" dirty="0" err="1">
                <a:latin typeface="+mn-lt"/>
              </a:rPr>
              <a:t>апробовані</a:t>
            </a:r>
            <a:r>
              <a:rPr lang="ru-RU" sz="1400" dirty="0">
                <a:latin typeface="+mn-lt"/>
              </a:rPr>
              <a:t> та </a:t>
            </a:r>
            <a:r>
              <a:rPr lang="ru-RU" sz="1400" dirty="0" err="1">
                <a:latin typeface="+mn-lt"/>
              </a:rPr>
              <a:t>опубліковані</a:t>
            </a:r>
            <a:r>
              <a:rPr lang="ru-RU" sz="1400" dirty="0">
                <a:latin typeface="+mn-lt"/>
              </a:rPr>
              <a:t> у </a:t>
            </a:r>
            <a:r>
              <a:rPr lang="ru-RU" sz="1400" dirty="0" err="1">
                <a:latin typeface="+mn-lt"/>
              </a:rPr>
              <a:t>збірнику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матеріалів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наукової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конференції</a:t>
            </a:r>
            <a:r>
              <a:rPr lang="en-US" sz="1400" dirty="0">
                <a:latin typeface="+mn-lt"/>
              </a:rPr>
              <a:t> “</a:t>
            </a:r>
            <a:r>
              <a:rPr lang="fr-FR" sz="1400" dirty="0">
                <a:latin typeface="+mn-lt"/>
              </a:rPr>
              <a:t>Modern Perspectives on Global Scientific Solutions</a:t>
            </a:r>
            <a:r>
              <a:rPr lang="en-US" sz="1400" dirty="0">
                <a:latin typeface="+mn-lt"/>
              </a:rPr>
              <a:t>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B9D89-DF67-BB00-8854-8FFF189D92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mtClean="0"/>
              <a:t>13</a:t>
            </a:fld>
            <a:endParaRPr lang="uk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E0DB0E-C9F4-D405-B7F6-210BBA689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35" y="1979272"/>
            <a:ext cx="3489873" cy="294983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AC73FB-3333-5EAD-6478-2D45C92BD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804" y="1979272"/>
            <a:ext cx="4002006" cy="293405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8865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700" y="86683"/>
            <a:ext cx="8520600" cy="696099"/>
          </a:xfrm>
        </p:spPr>
        <p:txBody>
          <a:bodyPr>
            <a:normAutofit/>
          </a:bodyPr>
          <a:lstStyle/>
          <a:p>
            <a:pPr algn="ctr"/>
            <a:r>
              <a:rPr lang="ru-RU" sz="3200" dirty="0" err="1"/>
              <a:t>Висновки</a:t>
            </a:r>
            <a:endParaRPr lang="en-US" sz="32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err="1">
                <a:latin typeface="+mn-lt"/>
              </a:rPr>
              <a:t>Досліджено</a:t>
            </a:r>
            <a:r>
              <a:rPr lang="ru-RU" dirty="0">
                <a:latin typeface="+mn-lt"/>
              </a:rPr>
              <a:t> структуру та </a:t>
            </a:r>
            <a:r>
              <a:rPr lang="ru-RU" dirty="0" err="1">
                <a:latin typeface="+mn-lt"/>
              </a:rPr>
              <a:t>особливості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байткоду</a:t>
            </a:r>
            <a:r>
              <a:rPr lang="ru-RU" dirty="0">
                <a:latin typeface="+mn-lt"/>
              </a:rPr>
              <a:t> </a:t>
            </a:r>
            <a:r>
              <a:rPr lang="en-US" dirty="0">
                <a:latin typeface="+mn-lt"/>
              </a:rPr>
              <a:t>Lua</a:t>
            </a:r>
          </a:p>
          <a:p>
            <a:r>
              <a:rPr lang="ru-RU" dirty="0" err="1">
                <a:latin typeface="+mn-lt"/>
              </a:rPr>
              <a:t>Реалізовано</a:t>
            </a:r>
            <a:r>
              <a:rPr lang="ru-RU" dirty="0">
                <a:latin typeface="+mn-lt"/>
              </a:rPr>
              <a:t> прототип </a:t>
            </a:r>
            <a:r>
              <a:rPr lang="ru-RU" dirty="0" err="1">
                <a:latin typeface="+mn-lt"/>
              </a:rPr>
              <a:t>дизасемблера</a:t>
            </a:r>
            <a:r>
              <a:rPr lang="ru-RU" dirty="0">
                <a:latin typeface="+mn-lt"/>
              </a:rPr>
              <a:t> </a:t>
            </a:r>
            <a:r>
              <a:rPr lang="en-US" dirty="0">
                <a:latin typeface="+mn-lt"/>
              </a:rPr>
              <a:t>Lua-</a:t>
            </a:r>
            <a:r>
              <a:rPr lang="ru-RU" dirty="0" err="1">
                <a:latin typeface="+mn-lt"/>
              </a:rPr>
              <a:t>байткоду</a:t>
            </a:r>
            <a:r>
              <a:rPr lang="ru-RU" dirty="0">
                <a:latin typeface="+mn-lt"/>
              </a:rPr>
              <a:t> мовою </a:t>
            </a:r>
            <a:r>
              <a:rPr lang="en-US" dirty="0">
                <a:latin typeface="+mn-lt"/>
              </a:rPr>
              <a:t>C++</a:t>
            </a:r>
          </a:p>
          <a:p>
            <a:r>
              <a:rPr lang="ru-RU" dirty="0" err="1">
                <a:latin typeface="+mn-lt"/>
              </a:rPr>
              <a:t>Реалізовано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базові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алгоритми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аналізу</a:t>
            </a:r>
            <a:r>
              <a:rPr lang="ru-RU" dirty="0">
                <a:latin typeface="+mn-lt"/>
              </a:rPr>
              <a:t> та </a:t>
            </a:r>
            <a:r>
              <a:rPr lang="ru-RU" dirty="0" err="1">
                <a:latin typeface="+mn-lt"/>
              </a:rPr>
              <a:t>деобфускації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байткоду</a:t>
            </a:r>
            <a:endParaRPr lang="ru-RU" dirty="0">
              <a:latin typeface="+mn-lt"/>
            </a:endParaRPr>
          </a:p>
          <a:p>
            <a:r>
              <a:rPr lang="ru-RU" dirty="0">
                <a:latin typeface="+mn-lt"/>
              </a:rPr>
              <a:t>Проведено </a:t>
            </a:r>
            <a:r>
              <a:rPr lang="ru-RU" dirty="0" err="1">
                <a:latin typeface="+mn-lt"/>
              </a:rPr>
              <a:t>експериментальні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дослідження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роботи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дизасемблера</a:t>
            </a:r>
            <a:endParaRPr lang="ru-RU" dirty="0">
              <a:latin typeface="+mn-lt"/>
            </a:endParaRPr>
          </a:p>
          <a:p>
            <a:r>
              <a:rPr lang="ru-RU" dirty="0" err="1">
                <a:latin typeface="+mn-lt"/>
              </a:rPr>
              <a:t>Визначено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обмеження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поточної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реалізації</a:t>
            </a:r>
            <a:r>
              <a:rPr lang="ru-RU" dirty="0">
                <a:latin typeface="+mn-lt"/>
              </a:rPr>
              <a:t> та </a:t>
            </a:r>
            <a:r>
              <a:rPr lang="ru-RU" dirty="0" err="1">
                <a:latin typeface="+mn-lt"/>
              </a:rPr>
              <a:t>можливі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напрями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подальшого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розвитку</a:t>
            </a:r>
            <a:endParaRPr lang="en-US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11164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" id="{8855F006-6CF5-45ED-AA32-6AF957134D8E}" vid="{33ABB0F5-E717-4DBC-A680-0765548A066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</Template>
  <TotalTime>1639</TotalTime>
  <Words>1577</Words>
  <Application>Microsoft Office PowerPoint</Application>
  <PresentationFormat>On-screen Show (16:9)</PresentationFormat>
  <Paragraphs>231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Open Sans</vt:lpstr>
      <vt:lpstr>Times New Roman</vt:lpstr>
      <vt:lpstr>Courier New</vt:lpstr>
      <vt:lpstr>Calibri</vt:lpstr>
      <vt:lpstr>Economica</vt:lpstr>
      <vt:lpstr>Тема</vt:lpstr>
      <vt:lpstr>Дизасемблер байткоду Lua: реалізація та дослідження методів обфускації</vt:lpstr>
      <vt:lpstr>Основні поняття</vt:lpstr>
      <vt:lpstr>Актуальність дослідження</vt:lpstr>
      <vt:lpstr>Мета та завдання роботи</vt:lpstr>
      <vt:lpstr>Структура байткоду Lua</vt:lpstr>
      <vt:lpstr>Формат інструкцій</vt:lpstr>
      <vt:lpstr>Методи обфускації</vt:lpstr>
      <vt:lpstr>Деобфускація (на прикладі видалення «мертвого» коду)</vt:lpstr>
      <vt:lpstr>Планування експериментального дослідження</vt:lpstr>
      <vt:lpstr>Результати експериментів</vt:lpstr>
      <vt:lpstr>Результати експериментів</vt:lpstr>
      <vt:lpstr>Результати експериментів</vt:lpstr>
      <vt:lpstr>Апробація результатів роботи</vt:lpstr>
      <vt:lpstr>Висновки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Evgen</dc:creator>
  <cp:lastModifiedBy>В`ячеслав Головецький</cp:lastModifiedBy>
  <cp:revision>50</cp:revision>
  <dcterms:created xsi:type="dcterms:W3CDTF">2026-05-03T23:16:54Z</dcterms:created>
  <dcterms:modified xsi:type="dcterms:W3CDTF">2026-05-21T16:07:02Z</dcterms:modified>
</cp:coreProperties>
</file>